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4313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120640" y="0"/>
            <a:ext cx="457200" cy="5143500"/>
          </a:xfrm>
          <a:prstGeom prst="rect">
            <a:avLst/>
          </a:prstGeom>
          <a:solidFill>
            <a:srgbClr val="111827">
              <a:alpha val="85000"/>
            </a:srgbClr>
          </a:solidFill>
          <a:ln w="12700">
            <a:solidFill>
              <a:srgbClr val="11182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92608" y="502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VISUALIZATION  ·  IIT DELHI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2608" y="80467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292608" y="14813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6000" dirty="0"/>
          </a:p>
        </p:txBody>
      </p:sp>
      <p:sp>
        <p:nvSpPr>
          <p:cNvPr id="9" name="Shape 6"/>
          <p:cNvSpPr/>
          <p:nvPr/>
        </p:nvSpPr>
        <p:spPr>
          <a:xfrm>
            <a:off x="292608" y="2331720"/>
            <a:ext cx="1828800" cy="50292"/>
          </a:xfrm>
          <a:prstGeom prst="rect">
            <a:avLst/>
          </a:prstGeom>
          <a:solidFill>
            <a:srgbClr val="D7A23A"/>
          </a:solidFill>
          <a:ln w="12700">
            <a:solidFill>
              <a:srgbClr val="D7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92608" y="2487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2D/3D Visual Analytics for Multithreaded Execution</a:t>
            </a:r>
            <a:endParaRPr lang="en-US" sz="13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4A92B1-8BA0-4FEC-CED4-AF8810155543}"/>
              </a:ext>
            </a:extLst>
          </p:cNvPr>
          <p:cNvSpPr txBox="1"/>
          <p:nvPr/>
        </p:nvSpPr>
        <p:spPr>
          <a:xfrm>
            <a:off x="618563" y="3351882"/>
            <a:ext cx="3153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Nitish Kumar (2025MCS2100)</a:t>
            </a:r>
          </a:p>
          <a:p>
            <a:r>
              <a:rPr lang="en-US" dirty="0">
                <a:solidFill>
                  <a:schemeClr val="bg1"/>
                </a:solidFill>
              </a:rPr>
              <a:t>Dipesh Kant (2025MCS2110)</a:t>
            </a:r>
          </a:p>
        </p:txBody>
      </p:sp>
      <p:pic>
        <p:nvPicPr>
          <p:cNvPr id="22" name="Picture 21" descr="A red and black logo&#10;&#10;AI-generated content may be incorrect.">
            <a:extLst>
              <a:ext uri="{FF2B5EF4-FFF2-40B4-BE49-F238E27FC236}">
                <a16:creationId xmlns:a16="http://schemas.microsoft.com/office/drawing/2014/main" id="{D1A53176-AB07-B1C2-8E50-F7E8046EB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5730"/>
            <a:ext cx="1152123" cy="11521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12801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WHAT IS MY PROJECT?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12801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78638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Chrono-Matrix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performance trace storyboard for multithreaded C++ programs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4114800" cy="3246120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4A"/>
            </a:solidFill>
            <a:prstDash val="solid"/>
          </a:ln>
          <a:effectLst>
            <a:outerShdw blurRad="1524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sessions/sweet-admiring-archimedes/mnt/outputs/welcome_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91640"/>
            <a:ext cx="4114800" cy="32461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54880" y="1691640"/>
            <a:ext cx="4023360" cy="749808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4A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691640"/>
            <a:ext cx="64008" cy="749808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919472" y="1755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19472" y="20208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visual analytics with 8+ coordinated views. No install required — load a JSON trace and explore instantly.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2514600"/>
            <a:ext cx="4023360" cy="749808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4A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754880" y="2514600"/>
            <a:ext cx="64008" cy="749808"/>
          </a:xfrm>
          <a:prstGeom prst="rect">
            <a:avLst/>
          </a:prstGeom>
          <a:solidFill>
            <a:srgbClr val="D7A23A"/>
          </a:solidFill>
          <a:ln w="12700">
            <a:solidFill>
              <a:srgbClr val="D7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19472" y="25786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Behavior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19472" y="28437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execution timing, lock waits, memory access patterns, and deadlock signals from real C++ programs.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3337560"/>
            <a:ext cx="4023360" cy="749808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4A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54880" y="3337560"/>
            <a:ext cx="64008" cy="749808"/>
          </a:xfrm>
          <a:prstGeom prst="rect">
            <a:avLst/>
          </a:prstGeom>
          <a:solidFill>
            <a:srgbClr val="8C5E3C"/>
          </a:solidFill>
          <a:ln w="12700">
            <a:solidFill>
              <a:srgbClr val="8C5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19472" y="3401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+ 3D Views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19472" y="36667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lanes, heatmaps, chord diagrams, dependency graphs, and immersive 3D spatial/flow/galaxy views.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54880" y="4160520"/>
            <a:ext cx="4023360" cy="749808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4A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754880" y="4160520"/>
            <a:ext cx="64008" cy="7498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919472" y="4224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Delhi Project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919472" y="44897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Information Visualization course to showcase coordinated, multi-view visual analytics over HPC data.</a:t>
            </a:r>
            <a:endParaRPr lang="en-US" sz="1000" dirty="0"/>
          </a:p>
        </p:txBody>
      </p:sp>
      <p:pic>
        <p:nvPicPr>
          <p:cNvPr id="27" name="Picture 26" descr="A red and black logo&#10;&#10;AI-generated content may be incorrect.">
            <a:extLst>
              <a:ext uri="{FF2B5EF4-FFF2-40B4-BE49-F238E27FC236}">
                <a16:creationId xmlns:a16="http://schemas.microsoft.com/office/drawing/2014/main" id="{D903D616-982B-FFE9-CCB4-1D2FF3120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595" y="61722"/>
            <a:ext cx="534924" cy="5349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12801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WHAT PROBLEM DID WE SOLVE?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78638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Logs to Visual Clarity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multithreaded programs is notoriously hard — we built a solution.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3886200" cy="3246120"/>
          </a:xfrm>
          <a:prstGeom prst="rect">
            <a:avLst/>
          </a:prstGeom>
          <a:solidFill>
            <a:srgbClr val="1A2332"/>
          </a:solidFill>
          <a:ln w="12700">
            <a:solidFill>
              <a:srgbClr val="B85042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664208"/>
            <a:ext cx="3886200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Without Chrono-Matrix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0352" y="2157984"/>
            <a:ext cx="54864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944" y="213969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 logs with thousands of events — no visual structure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0352" y="2596896"/>
            <a:ext cx="54864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4944" y="2578608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WHEN threads conflict or HOW LONG they wait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3035808"/>
            <a:ext cx="54864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4944" y="301752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contention invisible until deadlock actually occurs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" y="3474720"/>
            <a:ext cx="54864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" y="3456432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hotspots buried in address hex strings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0352" y="3913632"/>
            <a:ext cx="54864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4944" y="3895344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see thread relationships or causal chains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0352" y="4352544"/>
            <a:ext cx="54864" cy="2560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944" y="433425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thread performance requires manual grep &amp; awk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434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D7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846320" y="1664208"/>
            <a:ext cx="3886200" cy="3246120"/>
          </a:xfrm>
          <a:prstGeom prst="rect">
            <a:avLst/>
          </a:prstGeom>
          <a:solidFill>
            <a:srgbClr val="1A2332"/>
          </a:solidFill>
          <a:ln w="12700">
            <a:solidFill>
              <a:srgbClr val="2F7D6D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1664208"/>
            <a:ext cx="3886200" cy="64008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·  With Chrono-Matrix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965192" y="2157984"/>
            <a:ext cx="54864" cy="256032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38928" y="21396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timeline lanes per thread — see exactly when events fire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65192" y="2596896"/>
            <a:ext cx="54864" cy="256032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38928" y="25786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and pan to any time window; duration shown on hover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65192" y="3035808"/>
            <a:ext cx="54864" cy="256032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38928" y="30175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Chord diagram + bar chart shows which mutexes block most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65192" y="3474720"/>
            <a:ext cx="54864" cy="256032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38928" y="34564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of address activity reveals cache-line contention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65192" y="3913632"/>
            <a:ext cx="54864" cy="256032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38928" y="38953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 shows who is waiting for whom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965192" y="4352544"/>
            <a:ext cx="54864" cy="256032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38928" y="433425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Per-thread profiler breaks down compute vs wait time</a:t>
            </a:r>
            <a:endParaRPr lang="en-US" sz="1050" dirty="0"/>
          </a:p>
        </p:txBody>
      </p:sp>
      <p:pic>
        <p:nvPicPr>
          <p:cNvPr id="40" name="Picture 39" descr="A red and black logo&#10;&#10;AI-generated content may be incorrect.">
            <a:extLst>
              <a:ext uri="{FF2B5EF4-FFF2-40B4-BE49-F238E27FC236}">
                <a16:creationId xmlns:a16="http://schemas.microsoft.com/office/drawing/2014/main" id="{58A3BC8F-1E84-58FF-514C-3648C7BD9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595" y="61722"/>
            <a:ext cx="534924" cy="5349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A23A"/>
          </a:solidFill>
          <a:ln w="12700">
            <a:solidFill>
              <a:srgbClr val="D7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12801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7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HOW DO WE GATHER THE DATA?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8638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Tracer Pipeline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LD_PRELOAD shared library silently intercepts thread &amp; memory APIs — zero changes to your code.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1802" y="2240280"/>
            <a:ext cx="1499616" cy="1499616"/>
          </a:xfrm>
          <a:prstGeom prst="ellipse">
            <a:avLst/>
          </a:prstGeom>
          <a:solidFill>
            <a:srgbClr val="8C5E3C">
              <a:alpha val="18000"/>
            </a:srgbClr>
          </a:solidFill>
          <a:ln w="12700">
            <a:solidFill>
              <a:srgbClr val="8C5E3C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3242" y="2331720"/>
            <a:ext cx="1316736" cy="1316736"/>
          </a:xfrm>
          <a:prstGeom prst="ellipse">
            <a:avLst/>
          </a:prstGeom>
          <a:solidFill>
            <a:srgbClr val="1A2332"/>
          </a:solidFill>
          <a:ln w="31750">
            <a:solidFill>
              <a:srgbClr val="8C5E3C"/>
            </a:solidFill>
            <a:prstDash val="solid"/>
          </a:ln>
          <a:effectLst>
            <a:outerShdw blurRad="1524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3242" y="242316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C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93242" y="29260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Target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5770" y="37856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with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cm_annotate.h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55698" y="2962656"/>
            <a:ext cx="544068" cy="50292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699766" y="2889504"/>
            <a:ext cx="50292" cy="201168"/>
          </a:xfrm>
          <a:prstGeom prst="rect">
            <a:avLst/>
          </a:prstGeom>
          <a:solidFill>
            <a:srgbClr val="8C5E3C"/>
          </a:solidFill>
          <a:ln w="12700">
            <a:solidFill>
              <a:srgbClr val="8C5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82062" y="2240280"/>
            <a:ext cx="1499616" cy="1499616"/>
          </a:xfrm>
          <a:prstGeom prst="ellipse">
            <a:avLst/>
          </a:prstGeom>
          <a:solidFill>
            <a:srgbClr val="B85042">
              <a:alpha val="18000"/>
            </a:srgbClr>
          </a:solidFill>
          <a:ln w="12700">
            <a:solidFill>
              <a:srgbClr val="B85042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873502" y="2331720"/>
            <a:ext cx="1316736" cy="1316736"/>
          </a:xfrm>
          <a:prstGeom prst="ellipse">
            <a:avLst/>
          </a:prstGeom>
          <a:solidFill>
            <a:srgbClr val="1A2332"/>
          </a:solidFill>
          <a:ln w="31750">
            <a:solidFill>
              <a:srgbClr val="B85042"/>
            </a:solidFill>
            <a:prstDash val="solid"/>
          </a:ln>
          <a:effectLst>
            <a:outerShdw blurRad="1524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73502" y="242316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873502" y="29260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Library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26030" y="37856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the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LD_PRELOAD hook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35958" y="2962656"/>
            <a:ext cx="544068" cy="50292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80026" y="2889504"/>
            <a:ext cx="50292" cy="2011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62322" y="2240280"/>
            <a:ext cx="1499616" cy="1499616"/>
          </a:xfrm>
          <a:prstGeom prst="ellipse">
            <a:avLst/>
          </a:prstGeom>
          <a:solidFill>
            <a:srgbClr val="D7A23A">
              <a:alpha val="18000"/>
            </a:srgbClr>
          </a:solidFill>
          <a:ln w="12700">
            <a:solidFill>
              <a:srgbClr val="D7A23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53762" y="2331720"/>
            <a:ext cx="1316736" cy="1316736"/>
          </a:xfrm>
          <a:prstGeom prst="ellipse">
            <a:avLst/>
          </a:prstGeom>
          <a:solidFill>
            <a:srgbClr val="1A2332"/>
          </a:solidFill>
          <a:ln w="31750">
            <a:solidFill>
              <a:srgbClr val="D7A23A"/>
            </a:solidFill>
            <a:prstDash val="solid"/>
          </a:ln>
          <a:effectLst>
            <a:outerShdw blurRad="1524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53762" y="242316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7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953762" y="29260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Capture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06290" y="37856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all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API calls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16218" y="2962656"/>
            <a:ext cx="544068" cy="50292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60286" y="2889504"/>
            <a:ext cx="50292" cy="201168"/>
          </a:xfrm>
          <a:prstGeom prst="rect">
            <a:avLst/>
          </a:prstGeom>
          <a:solidFill>
            <a:srgbClr val="D7A23A"/>
          </a:solidFill>
          <a:ln w="12700">
            <a:solidFill>
              <a:srgbClr val="D7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942582" y="2240280"/>
            <a:ext cx="1499616" cy="1499616"/>
          </a:xfrm>
          <a:prstGeom prst="ellipse">
            <a:avLst/>
          </a:prstGeom>
          <a:solidFill>
            <a:srgbClr val="2F7D6D">
              <a:alpha val="18000"/>
            </a:srgbClr>
          </a:solidFill>
          <a:ln w="12700">
            <a:solidFill>
              <a:srgbClr val="2F7D6D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34022" y="2331720"/>
            <a:ext cx="1316736" cy="1316736"/>
          </a:xfrm>
          <a:prstGeom prst="ellipse">
            <a:avLst/>
          </a:prstGeom>
          <a:solidFill>
            <a:srgbClr val="1A2332"/>
          </a:solidFill>
          <a:ln w="31750">
            <a:solidFill>
              <a:srgbClr val="2F7D6D"/>
            </a:solidFill>
            <a:prstDash val="solid"/>
          </a:ln>
          <a:effectLst>
            <a:outerShdw blurRad="1524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34022" y="242316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034022" y="29260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Trace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86550" y="37856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JSON into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224528"/>
            <a:ext cx="82296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2F7D6D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42976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A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LD_PRELOAD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28800" y="4297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B8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=./tracer/libcmhijack.so  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4297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./tracer/my_program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45720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Emits:  my_program.json  →  { ts, tid, event, addr, duration_us, scenario }</a:t>
            </a:r>
            <a:endParaRPr lang="en-US" sz="1000" dirty="0"/>
          </a:p>
        </p:txBody>
      </p:sp>
      <p:pic>
        <p:nvPicPr>
          <p:cNvPr id="40" name="Picture 39" descr="A red and black logo&#10;&#10;AI-generated content may be incorrect.">
            <a:extLst>
              <a:ext uri="{FF2B5EF4-FFF2-40B4-BE49-F238E27FC236}">
                <a16:creationId xmlns:a16="http://schemas.microsoft.com/office/drawing/2014/main" id="{C1FF874D-B42F-7E5A-A521-1FA0D4537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595" y="61722"/>
            <a:ext cx="534924" cy="5349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12801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TOOLS USED TO VISUALIZE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78638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browser-based stack — no server, no framework, just the browser and D3.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2578608" cy="1298448"/>
          </a:xfrm>
          <a:prstGeom prst="rect">
            <a:avLst/>
          </a:prstGeom>
          <a:solidFill>
            <a:srgbClr val="1A2332"/>
          </a:solidFill>
          <a:ln w="12700">
            <a:solidFill>
              <a:srgbClr val="B85042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2578608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93976" y="1773936"/>
            <a:ext cx="713232" cy="182880"/>
          </a:xfrm>
          <a:prstGeom prst="rect">
            <a:avLst/>
          </a:prstGeom>
          <a:solidFill>
            <a:srgbClr val="B85042">
              <a:alpha val="35000"/>
            </a:srgbClr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93976" y="177393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38912" y="175564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v7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38912" y="202996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Visualization Engine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231136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Gantt timeline, memory heatmap, chord diagram, dependency force graph, and overview charts. Handles data binding, scales, axes, and DOM manipulation.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27248" y="1664208"/>
            <a:ext cx="2578608" cy="1298448"/>
          </a:xfrm>
          <a:prstGeom prst="rect">
            <a:avLst/>
          </a:prstGeom>
          <a:solidFill>
            <a:srgbClr val="1A2332"/>
          </a:solidFill>
          <a:ln w="12700">
            <a:solidFill>
              <a:srgbClr val="6C63FF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27248" y="1664208"/>
            <a:ext cx="2578608" cy="6400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01184" y="1773936"/>
            <a:ext cx="713232" cy="182880"/>
          </a:xfrm>
          <a:prstGeom prst="rect">
            <a:avLst/>
          </a:prstGeom>
          <a:solidFill>
            <a:srgbClr val="6C63FF">
              <a:alpha val="35000"/>
            </a:srgbClr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01184" y="177393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246120" y="175564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246120" y="202996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Immersive Views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46120" y="2231136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Spatial Timeline, Thread Galaxy (particle clusters), and Flow Field (particle streams). Handles WebGL camera, orbit controls, and shader effects.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0" y="1664208"/>
            <a:ext cx="2578608" cy="1298448"/>
          </a:xfrm>
          <a:prstGeom prst="rect">
            <a:avLst/>
          </a:prstGeom>
          <a:solidFill>
            <a:srgbClr val="1A2332"/>
          </a:solidFill>
          <a:ln w="12700">
            <a:solidFill>
              <a:srgbClr val="2F7D6D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43600" y="1664208"/>
            <a:ext cx="2578608" cy="64008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17536" y="1773936"/>
            <a:ext cx="713232" cy="182880"/>
          </a:xfrm>
          <a:prstGeom prst="rect">
            <a:avLst/>
          </a:prstGeom>
          <a:solidFill>
            <a:srgbClr val="2F7D6D">
              <a:alpha val="35000"/>
            </a:srgbClr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17536" y="177393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62472" y="1755648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062472" y="202996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Shell &amp; Layout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62472" y="2231136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sidebar navigation, dark-theme design system, animated loading screen, responsive layout, tooltip system, and scanline/glow ambient effects.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108960"/>
            <a:ext cx="2578608" cy="1298448"/>
          </a:xfrm>
          <a:prstGeom prst="rect">
            <a:avLst/>
          </a:prstGeom>
          <a:solidFill>
            <a:srgbClr val="1A2332"/>
          </a:solidFill>
          <a:ln w="12700">
            <a:solidFill>
              <a:srgbClr val="D7A23A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" y="3108960"/>
            <a:ext cx="2578608" cy="64008"/>
          </a:xfrm>
          <a:prstGeom prst="rect">
            <a:avLst/>
          </a:prstGeom>
          <a:solidFill>
            <a:srgbClr val="D7A23A"/>
          </a:solidFill>
          <a:ln w="12700">
            <a:solidFill>
              <a:srgbClr val="D7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093976" y="3218688"/>
            <a:ext cx="713232" cy="182880"/>
          </a:xfrm>
          <a:prstGeom prst="rect">
            <a:avLst/>
          </a:prstGeom>
          <a:solidFill>
            <a:srgbClr val="D7A23A">
              <a:alpha val="35000"/>
            </a:srgbClr>
          </a:solidFill>
          <a:ln w="12700">
            <a:solidFill>
              <a:srgbClr val="D7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093976" y="321868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7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38912" y="3200400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(ES6+)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38912" y="347472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Data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38912" y="3675888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router, event bus for cross-view coordination, JSON trace parser, scenario filter system, and reactive data pipeline connecting all views.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127248" y="3108960"/>
            <a:ext cx="2578608" cy="1298448"/>
          </a:xfrm>
          <a:prstGeom prst="rect">
            <a:avLst/>
          </a:prstGeom>
          <a:solidFill>
            <a:srgbClr val="1A2332"/>
          </a:solidFill>
          <a:ln w="12700">
            <a:solidFill>
              <a:srgbClr val="8C5E3C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127248" y="3108960"/>
            <a:ext cx="2578608" cy="64008"/>
          </a:xfrm>
          <a:prstGeom prst="rect">
            <a:avLst/>
          </a:prstGeom>
          <a:solidFill>
            <a:srgbClr val="8C5E3C"/>
          </a:solidFill>
          <a:ln w="12700">
            <a:solidFill>
              <a:srgbClr val="8C5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901184" y="3218688"/>
            <a:ext cx="713232" cy="182880"/>
          </a:xfrm>
          <a:prstGeom prst="rect">
            <a:avLst/>
          </a:prstGeom>
          <a:solidFill>
            <a:srgbClr val="8C5E3C">
              <a:alpha val="35000"/>
            </a:srgbClr>
          </a:solidFill>
          <a:ln w="12700">
            <a:solidFill>
              <a:srgbClr val="8C5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01184" y="321868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C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246120" y="3200400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Trace File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3246120" y="347472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46120" y="3675888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Self-describing structured event log emitted by the C++ tracer. Loaded via file drag-and-drop or the sample dataset buttons. Single source of truth for all views.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43600" y="3108960"/>
            <a:ext cx="2578608" cy="1298448"/>
          </a:xfrm>
          <a:prstGeom prst="rect">
            <a:avLst/>
          </a:prstGeom>
          <a:solidFill>
            <a:srgbClr val="1A2332"/>
          </a:solidFill>
          <a:ln w="12700">
            <a:solidFill>
              <a:srgbClr val="3DB89E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943600" y="3108960"/>
            <a:ext cx="2578608" cy="64008"/>
          </a:xfrm>
          <a:prstGeom prst="rect">
            <a:avLst/>
          </a:prstGeom>
          <a:solidFill>
            <a:srgbClr val="3DB89E"/>
          </a:solidFill>
          <a:ln w="12700">
            <a:solidFill>
              <a:srgbClr val="3DB8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717536" y="3218688"/>
            <a:ext cx="713232" cy="182880"/>
          </a:xfrm>
          <a:prstGeom prst="rect">
            <a:avLst/>
          </a:prstGeom>
          <a:solidFill>
            <a:srgbClr val="3DB89E">
              <a:alpha val="35000"/>
            </a:srgbClr>
          </a:solidFill>
          <a:ln w="12700">
            <a:solidFill>
              <a:srgbClr val="3DB8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717536" y="321868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D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062472" y="3200400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LD_PRELOAD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6062472" y="347472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062472" y="3675888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cm_hijacker.cpp intercepts POSIX thread APIs at runtime with zero code changes. cm_annotate.h macros let you annotate compute and memory events manually.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0040" y="4663440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7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visualization runs entirely in the browser — load index.html via a static server, drag in a trace JSON, and every view renders instantly.</a:t>
            </a:r>
            <a:endParaRPr lang="en-US" sz="1050" dirty="0"/>
          </a:p>
        </p:txBody>
      </p:sp>
      <p:pic>
        <p:nvPicPr>
          <p:cNvPr id="52" name="Picture 51" descr="A red and black logo&#10;&#10;AI-generated content may be incorrect.">
            <a:extLst>
              <a:ext uri="{FF2B5EF4-FFF2-40B4-BE49-F238E27FC236}">
                <a16:creationId xmlns:a16="http://schemas.microsoft.com/office/drawing/2014/main" id="{B8284AF7-95E2-4DC6-430F-063371DE4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595" y="61722"/>
            <a:ext cx="534924" cy="5349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12801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VISUALIZATION TECHNIQUES  —  2D VIEWS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78638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Analytical Views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view is tuned to answer a specific question about thread behavior.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2578608" cy="1417320"/>
          </a:xfrm>
          <a:prstGeom prst="rect">
            <a:avLst/>
          </a:prstGeom>
          <a:solidFill>
            <a:srgbClr val="1A2332"/>
          </a:solidFill>
          <a:ln w="12700">
            <a:solidFill>
              <a:srgbClr val="2F7D6D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64008" cy="1417320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" y="175564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Timeline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" y="2029968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/ Swimlane Chart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9496" y="2513704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When did each thread run, and what was it doing?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27248" y="1664208"/>
            <a:ext cx="2578608" cy="1417320"/>
          </a:xfrm>
          <a:prstGeom prst="rect">
            <a:avLst/>
          </a:prstGeom>
          <a:solidFill>
            <a:srgbClr val="1A2332"/>
          </a:solidFill>
          <a:ln w="12700">
            <a:solidFill>
              <a:srgbClr val="D7A23A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27248" y="1664208"/>
            <a:ext cx="64008" cy="1417320"/>
          </a:xfrm>
          <a:prstGeom prst="rect">
            <a:avLst/>
          </a:prstGeom>
          <a:solidFill>
            <a:srgbClr val="D7A23A"/>
          </a:solidFill>
          <a:ln w="12700">
            <a:solidFill>
              <a:srgbClr val="D7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175564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Analysis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91840" y="2029968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Heatmap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91840" y="2467804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Which memory addresses are contended, and when?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1664208"/>
            <a:ext cx="2578608" cy="1417320"/>
          </a:xfrm>
          <a:prstGeom prst="rect">
            <a:avLst/>
          </a:prstGeom>
          <a:solidFill>
            <a:srgbClr val="1A2332"/>
          </a:solidFill>
          <a:ln w="12700">
            <a:solidFill>
              <a:srgbClr val="3DB89E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0" y="1664208"/>
            <a:ext cx="64008" cy="1417320"/>
          </a:xfrm>
          <a:prstGeom prst="rect">
            <a:avLst/>
          </a:prstGeom>
          <a:solidFill>
            <a:srgbClr val="3DB89E"/>
          </a:solidFill>
          <a:ln w="12700">
            <a:solidFill>
              <a:srgbClr val="3DB8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08192" y="175564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Atlas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08192" y="2029968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B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Dual-Panel View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08192" y="2407158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does thread time activity relate to memory space activity?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246120"/>
            <a:ext cx="2578608" cy="1417320"/>
          </a:xfrm>
          <a:prstGeom prst="rect">
            <a:avLst/>
          </a:prstGeom>
          <a:solidFill>
            <a:srgbClr val="1A2332"/>
          </a:solidFill>
          <a:ln w="12700">
            <a:solidFill>
              <a:srgbClr val="B85042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3246120"/>
            <a:ext cx="64008" cy="1417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" y="333756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Contention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4632" y="3611880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Chord Diagram + Bar Chart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6344" y="3990370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Which mutexes block the most threads, and for how long?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27248" y="3246120"/>
            <a:ext cx="2578608" cy="1417320"/>
          </a:xfrm>
          <a:prstGeom prst="rect">
            <a:avLst/>
          </a:prstGeom>
          <a:solidFill>
            <a:srgbClr val="1A2332"/>
          </a:solidFill>
          <a:ln w="12700">
            <a:solidFill>
              <a:srgbClr val="8C5E3C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127248" y="3246120"/>
            <a:ext cx="64008" cy="1417320"/>
          </a:xfrm>
          <a:prstGeom prst="rect">
            <a:avLst/>
          </a:prstGeom>
          <a:solidFill>
            <a:srgbClr val="8C5E3C"/>
          </a:solidFill>
          <a:ln w="12700">
            <a:solidFill>
              <a:srgbClr val="8C5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91840" y="333756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Profiler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291840" y="3611880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5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 Chart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91840" y="3993777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fraction of each thread's time is wasted waiting?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43600" y="3246120"/>
            <a:ext cx="2578608" cy="1417320"/>
          </a:xfrm>
          <a:prstGeom prst="rect">
            <a:avLst/>
          </a:prstGeom>
          <a:solidFill>
            <a:srgbClr val="1A2332"/>
          </a:solidFill>
          <a:ln w="12700">
            <a:solidFill>
              <a:srgbClr val="6C63FF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943600" y="3246120"/>
            <a:ext cx="64008" cy="14173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08192" y="333756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108192" y="3611880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Force-Directed Graph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08192" y="3990370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Who is waiting for whom, and how did that evolve over time?</a:t>
            </a:r>
            <a:endParaRPr lang="en-US" sz="900" dirty="0"/>
          </a:p>
        </p:txBody>
      </p:sp>
      <p:pic>
        <p:nvPicPr>
          <p:cNvPr id="45" name="Picture 44" descr="A red and black logo&#10;&#10;AI-generated content may be incorrect.">
            <a:extLst>
              <a:ext uri="{FF2B5EF4-FFF2-40B4-BE49-F238E27FC236}">
                <a16:creationId xmlns:a16="http://schemas.microsoft.com/office/drawing/2014/main" id="{E3C6A0E6-E5D7-AF20-92EF-546F396B5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595" y="61722"/>
            <a:ext cx="534924" cy="5349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12801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VISUALIZATION TECHNIQUES  —  3D VIEWS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78638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Immersive Views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Three.js-powered exploratory views for spatial and temporal navigation.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2761488" cy="2743200"/>
          </a:xfrm>
          <a:prstGeom prst="rect">
            <a:avLst/>
          </a:prstGeom>
          <a:solidFill>
            <a:srgbClr val="1A2332"/>
          </a:solidFill>
          <a:ln w="15240">
            <a:solidFill>
              <a:srgbClr val="2F7D6D"/>
            </a:solidFill>
            <a:prstDash val="solid"/>
          </a:ln>
          <a:effectLst>
            <a:outerShdw blurRad="1524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2761488" cy="73152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41448" y="1828800"/>
            <a:ext cx="530352" cy="201168"/>
          </a:xfrm>
          <a:prstGeom prst="rect">
            <a:avLst/>
          </a:prstGeom>
          <a:solidFill>
            <a:srgbClr val="2F7D6D">
              <a:alpha val="35000"/>
            </a:srgbClr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41448" y="182880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810512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Timeline (3D)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21488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Bar / Duration Map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04872"/>
            <a:ext cx="2487168" cy="2286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4597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6609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event durations compare across threads and time in 3D space?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172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374136"/>
            <a:ext cx="2560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extruded as 3D bars. X = thread lane, Z = time, Y = duration. Orbit, zoom, and pan with mouse. Color encodes event type. Helps spot unusually long events at a glance.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27832" y="1691640"/>
            <a:ext cx="2761488" cy="2743200"/>
          </a:xfrm>
          <a:prstGeom prst="rect">
            <a:avLst/>
          </a:prstGeom>
          <a:solidFill>
            <a:srgbClr val="1A2332"/>
          </a:solidFill>
          <a:ln w="15240">
            <a:solidFill>
              <a:srgbClr val="6C63FF"/>
            </a:solidFill>
            <a:prstDash val="solid"/>
          </a:ln>
          <a:effectLst>
            <a:outerShdw blurRad="1524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27832" y="1691640"/>
            <a:ext cx="2761488" cy="7315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349240" y="1828800"/>
            <a:ext cx="530352" cy="201168"/>
          </a:xfrm>
          <a:prstGeom prst="rect">
            <a:avLst/>
          </a:prstGeom>
          <a:solidFill>
            <a:srgbClr val="6C63FF">
              <a:alpha val="35000"/>
            </a:srgbClr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49240" y="182880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64992" y="1810512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Galaxy (3D)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364992" y="21488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Cluster Field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64992" y="2404872"/>
            <a:ext cx="2487168" cy="2286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64992" y="24597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64992" y="26609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threads cluster based on their behavioral similarity?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64992" y="3172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64992" y="3374136"/>
            <a:ext cx="2560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rendered as a glowing particle cluster. Threads with similar event patterns attract each other. Live orbit view — rotate to find thread groups and outliers.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35624" y="1691640"/>
            <a:ext cx="2761488" cy="2743200"/>
          </a:xfrm>
          <a:prstGeom prst="rect">
            <a:avLst/>
          </a:prstGeom>
          <a:solidFill>
            <a:srgbClr val="1A2332"/>
          </a:solidFill>
          <a:ln w="15240">
            <a:solidFill>
              <a:srgbClr val="D7A23A"/>
            </a:solidFill>
            <a:prstDash val="solid"/>
          </a:ln>
          <a:effectLst>
            <a:outerShdw blurRad="1524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35624" y="1691640"/>
            <a:ext cx="2761488" cy="73152"/>
          </a:xfrm>
          <a:prstGeom prst="rect">
            <a:avLst/>
          </a:prstGeom>
          <a:solidFill>
            <a:srgbClr val="D7A23A"/>
          </a:solidFill>
          <a:ln w="12700">
            <a:solidFill>
              <a:srgbClr val="D7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57032" y="1828800"/>
            <a:ext cx="530352" cy="201168"/>
          </a:xfrm>
          <a:prstGeom prst="rect">
            <a:avLst/>
          </a:prstGeom>
          <a:solidFill>
            <a:srgbClr val="D7A23A">
              <a:alpha val="35000"/>
            </a:srgbClr>
          </a:solidFill>
          <a:ln w="12700">
            <a:solidFill>
              <a:srgbClr val="D7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57032" y="182880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7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72784" y="1810512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Field (3D)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272784" y="21488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Stream Animation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72784" y="2404872"/>
            <a:ext cx="2487168" cy="2286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72784" y="24597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72784" y="26609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events flow and evolve from older to newer states over time?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72784" y="3172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72784" y="3374136"/>
            <a:ext cx="2560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particle model where particles represent events moving along time dimension. Older events fade, newer ones glow bright. Reveals bursts, pauses, and wave patterns in event flow.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4544568"/>
            <a:ext cx="8503920" cy="420624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45445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3D views remain coordinated with the 2D dashboard — selecting a thread in 3D highlights it across all 2D views via the shared event bus.</a:t>
            </a:r>
            <a:endParaRPr lang="en-US" sz="1050" dirty="0"/>
          </a:p>
        </p:txBody>
      </p:sp>
      <p:pic>
        <p:nvPicPr>
          <p:cNvPr id="44" name="Picture 43" descr="A red and black logo&#10;&#10;AI-generated content may be incorrect.">
            <a:extLst>
              <a:ext uri="{FF2B5EF4-FFF2-40B4-BE49-F238E27FC236}">
                <a16:creationId xmlns:a16="http://schemas.microsoft.com/office/drawing/2014/main" id="{EC4D8E0A-3B2C-FE69-D784-0282801CD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595" y="61722"/>
            <a:ext cx="534924" cy="5349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12801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04b  ·  AI REPORT GENERATION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78638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Trace Analysis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— automated diagnosis, bottleneck identification, and optimization guidance from the loaded trace.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29422"/>
            <a:ext cx="3291840" cy="3200400"/>
          </a:xfrm>
          <a:prstGeom prst="rect">
            <a:avLst/>
          </a:prstGeom>
          <a:solidFill>
            <a:srgbClr val="1A2332"/>
          </a:solidFill>
          <a:ln w="12700">
            <a:solidFill>
              <a:srgbClr val="22D3EE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629422"/>
            <a:ext cx="329184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73915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" y="2178062"/>
            <a:ext cx="292608" cy="292608"/>
          </a:xfrm>
          <a:prstGeom prst="ellipse">
            <a:avLst/>
          </a:prstGeom>
          <a:solidFill>
            <a:srgbClr val="2F7D6D">
              <a:alpha val="70000"/>
            </a:srgbClr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072" y="217806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78408" y="215977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any JSON trace into the dashboard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944" y="2470670"/>
            <a:ext cx="18288" cy="22860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6072" y="2699270"/>
            <a:ext cx="292608" cy="292608"/>
          </a:xfrm>
          <a:prstGeom prst="ellipse">
            <a:avLst/>
          </a:prstGeom>
          <a:solidFill>
            <a:srgbClr val="D7A23A">
              <a:alpha val="70000"/>
            </a:srgbClr>
          </a:solidFill>
          <a:ln w="12700">
            <a:solidFill>
              <a:srgbClr val="D7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6072" y="269927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78408" y="268098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AI Report view in the sidebar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4944" y="2991878"/>
            <a:ext cx="18288" cy="22860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6072" y="3220478"/>
            <a:ext cx="292608" cy="292608"/>
          </a:xfrm>
          <a:prstGeom prst="ellipse">
            <a:avLst/>
          </a:prstGeom>
          <a:solidFill>
            <a:srgbClr val="8C5E3C">
              <a:alpha val="70000"/>
            </a:srgbClr>
          </a:solidFill>
          <a:ln w="12700">
            <a:solidFill>
              <a:srgbClr val="8C5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" y="322047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8408" y="320219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serializes trace metadata &amp; event statistics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4944" y="3513086"/>
            <a:ext cx="18288" cy="22860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76072" y="3741686"/>
            <a:ext cx="292608" cy="292608"/>
          </a:xfrm>
          <a:prstGeom prst="ellipse">
            <a:avLst/>
          </a:prstGeom>
          <a:solidFill>
            <a:srgbClr val="B85042">
              <a:alpha val="70000"/>
            </a:srgbClr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6072" y="374168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8408" y="372339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analyses patterns, detects anomalies &amp; bottlenecks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4944" y="4034294"/>
            <a:ext cx="18288" cy="228600"/>
          </a:xfrm>
          <a:prstGeom prst="rect">
            <a:avLst/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76072" y="4262894"/>
            <a:ext cx="292608" cy="292608"/>
          </a:xfrm>
          <a:prstGeom prst="ellipse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6072" y="42628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78408" y="424460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renders inline — diagnosis + recommendations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86200" y="16473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Report Delivers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886200" y="2005042"/>
            <a:ext cx="4846320" cy="877824"/>
          </a:xfrm>
          <a:prstGeom prst="rect">
            <a:avLst/>
          </a:prstGeom>
          <a:solidFill>
            <a:srgbClr val="1A2332"/>
          </a:solidFill>
          <a:ln w="12700">
            <a:solidFill>
              <a:srgbClr val="2F7D6D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86200" y="2005042"/>
            <a:ext cx="64008" cy="877824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032504" y="2206210"/>
            <a:ext cx="438912" cy="438912"/>
          </a:xfrm>
          <a:prstGeom prst="ellipse">
            <a:avLst/>
          </a:prstGeom>
          <a:solidFill>
            <a:srgbClr val="2F7D6D">
              <a:alpha val="45000"/>
            </a:srgbClr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032504" y="220621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81144" y="209648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81144" y="2370802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overview of the trace: total threads, event count, dominant event types, time window, and an overall health score.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86200" y="2974306"/>
            <a:ext cx="4846320" cy="877824"/>
          </a:xfrm>
          <a:prstGeom prst="rect">
            <a:avLst/>
          </a:prstGeom>
          <a:solidFill>
            <a:srgbClr val="1A2332"/>
          </a:solidFill>
          <a:ln w="12700">
            <a:solidFill>
              <a:srgbClr val="B85042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886200" y="2974306"/>
            <a:ext cx="64008" cy="87782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032504" y="3175474"/>
            <a:ext cx="438912" cy="438912"/>
          </a:xfrm>
          <a:prstGeom prst="ellipse">
            <a:avLst/>
          </a:prstGeom>
          <a:solidFill>
            <a:srgbClr val="B85042">
              <a:alpha val="45000"/>
            </a:srgbClr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032504" y="317547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81144" y="306574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Diagnosis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81144" y="3340066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and names specific issues — e.g. deadlock on q_mutex between TID 3 and TID 7, false sharing on address 0xAA001040, or thread starvation in TID 5.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86200" y="3943570"/>
            <a:ext cx="4846320" cy="877824"/>
          </a:xfrm>
          <a:prstGeom prst="rect">
            <a:avLst/>
          </a:prstGeom>
          <a:solidFill>
            <a:srgbClr val="1A2332"/>
          </a:solidFill>
          <a:ln w="12700">
            <a:solidFill>
              <a:srgbClr val="D7A23A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886200" y="3943570"/>
            <a:ext cx="64008" cy="877824"/>
          </a:xfrm>
          <a:prstGeom prst="rect">
            <a:avLst/>
          </a:prstGeom>
          <a:solidFill>
            <a:srgbClr val="D7A23A"/>
          </a:solidFill>
          <a:ln w="12700">
            <a:solidFill>
              <a:srgbClr val="D7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032504" y="4144738"/>
            <a:ext cx="438912" cy="438912"/>
          </a:xfrm>
          <a:prstGeom prst="ellipse">
            <a:avLst/>
          </a:prstGeom>
          <a:solidFill>
            <a:srgbClr val="D7A23A">
              <a:alpha val="45000"/>
            </a:srgbClr>
          </a:solidFill>
          <a:ln w="12700">
            <a:solidFill>
              <a:srgbClr val="D7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032504" y="414473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81144" y="4035010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Guidance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581144" y="4309330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recommendations: use lock-free atomics for the counter, split q_mutex into per-producer locks, pad struct to avoid cache-line sharing, rebalance work across threads.</a:t>
            </a:r>
            <a:endParaRPr lang="en-US" sz="950" dirty="0"/>
          </a:p>
        </p:txBody>
      </p:sp>
      <p:pic>
        <p:nvPicPr>
          <p:cNvPr id="52" name="Picture 51" descr="A red and black logo&#10;&#10;AI-generated content may be incorrect.">
            <a:extLst>
              <a:ext uri="{FF2B5EF4-FFF2-40B4-BE49-F238E27FC236}">
                <a16:creationId xmlns:a16="http://schemas.microsoft.com/office/drawing/2014/main" id="{1F4E54C2-0EEC-ACDB-3188-46156CBFA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595" y="61722"/>
            <a:ext cx="534924" cy="5349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7A23A"/>
          </a:solidFill>
          <a:ln w="12700">
            <a:solidFill>
              <a:srgbClr val="D7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12801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7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WHAT INSIGHTS CAN WE GET?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12801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78638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Dashboard to Decisions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Chrono-Matrix surfaces answers that would take hours to find manually.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2651760" cy="384048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Bottlenecks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2651760" cy="786384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4A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148840"/>
            <a:ext cx="2651760" cy="50292"/>
          </a:xfrm>
          <a:prstGeom prst="rect">
            <a:avLst/>
          </a:prstGeom>
          <a:solidFill>
            <a:srgbClr val="2F7D6D">
              <a:alpha val="60000"/>
            </a:srgbClr>
          </a:solidFill>
          <a:ln w="12700">
            <a:solidFill>
              <a:srgbClr val="2F7D6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2402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Profiler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4505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threads spending &gt;60% of time in LOCK_WAIT — prime candidates for restructuring.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99232"/>
            <a:ext cx="2651760" cy="786384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4A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999232"/>
            <a:ext cx="2651760" cy="50292"/>
          </a:xfrm>
          <a:prstGeom prst="rect">
            <a:avLst/>
          </a:prstGeom>
          <a:solidFill>
            <a:srgbClr val="2F7D6D">
              <a:alpha val="60000"/>
            </a:srgbClr>
          </a:solidFill>
          <a:ln w="12700">
            <a:solidFill>
              <a:srgbClr val="2F7D6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0906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30098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long idle gaps in thread lanes — threads that could run in parallel but don't.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849624"/>
            <a:ext cx="2651760" cy="786384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4A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849624"/>
            <a:ext cx="2651760" cy="50292"/>
          </a:xfrm>
          <a:prstGeom prst="rect">
            <a:avLst/>
          </a:prstGeom>
          <a:solidFill>
            <a:srgbClr val="2F7D6D">
              <a:alpha val="60000"/>
            </a:srgbClr>
          </a:solidFill>
          <a:ln w="12700">
            <a:solidFill>
              <a:srgbClr val="2F7D6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941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1513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ratio of COMPUTE to non-COMPUTE events — a low ratio means the program is mostly waiting.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1691640"/>
            <a:ext cx="2651760" cy="3840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154680" y="1691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Contention &amp; Deadlocks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154680" y="2148840"/>
            <a:ext cx="2651760" cy="786384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4A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154680" y="2148840"/>
            <a:ext cx="2651760" cy="50292"/>
          </a:xfrm>
          <a:prstGeom prst="rect">
            <a:avLst/>
          </a:prstGeom>
          <a:solidFill>
            <a:srgbClr val="B85042">
              <a:alpha val="60000"/>
            </a:srgbClr>
          </a:solidFill>
          <a:ln w="12700">
            <a:solidFill>
              <a:srgbClr val="B8504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46120" y="22402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Contention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46120" y="24505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mutex with the tallest bar is your primary bottleneck — consider a finer-grained lock or lock-free design.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54680" y="2999232"/>
            <a:ext cx="2651760" cy="786384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4A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154680" y="2999232"/>
            <a:ext cx="2651760" cy="50292"/>
          </a:xfrm>
          <a:prstGeom prst="rect">
            <a:avLst/>
          </a:prstGeom>
          <a:solidFill>
            <a:srgbClr val="B85042">
              <a:alpha val="60000"/>
            </a:srgbClr>
          </a:solidFill>
          <a:ln w="12700">
            <a:solidFill>
              <a:srgbClr val="B8504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46120" y="30906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46120" y="330098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cycle in the graph means deadlock — follow the edges to see exactly which thread holds what.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54680" y="3849624"/>
            <a:ext cx="2651760" cy="786384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4A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154680" y="3849624"/>
            <a:ext cx="2651760" cy="50292"/>
          </a:xfrm>
          <a:prstGeom prst="rect">
            <a:avLst/>
          </a:prstGeom>
          <a:solidFill>
            <a:srgbClr val="B85042">
              <a:alpha val="60000"/>
            </a:srgbClr>
          </a:solidFill>
          <a:ln w="12700">
            <a:solidFill>
              <a:srgbClr val="B8504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46120" y="3941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46120" y="41513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DEADLOCK_DETECTED events appear as red markers — jump straight to the exact timestamp.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89320" y="1691640"/>
            <a:ext cx="2651760" cy="384048"/>
          </a:xfrm>
          <a:prstGeom prst="rect">
            <a:avLst/>
          </a:prstGeom>
          <a:solidFill>
            <a:srgbClr val="D7A23A"/>
          </a:solidFill>
          <a:ln w="12700">
            <a:solidFill>
              <a:srgbClr val="D7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89320" y="1691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Load Balance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989320" y="2148840"/>
            <a:ext cx="2651760" cy="786384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4A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989320" y="2148840"/>
            <a:ext cx="2651760" cy="50292"/>
          </a:xfrm>
          <a:prstGeom prst="rect">
            <a:avLst/>
          </a:prstGeom>
          <a:solidFill>
            <a:srgbClr val="D7A23A">
              <a:alpha val="60000"/>
            </a:srgbClr>
          </a:solidFill>
          <a:ln w="12700">
            <a:solidFill>
              <a:srgbClr val="D7A23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80760" y="22402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7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Heatmap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080760" y="24505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horizontal bands = multiple threads contending the same address range — likely false sharing.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89320" y="2999232"/>
            <a:ext cx="2651760" cy="786384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4A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989320" y="2999232"/>
            <a:ext cx="2651760" cy="50292"/>
          </a:xfrm>
          <a:prstGeom prst="rect">
            <a:avLst/>
          </a:prstGeom>
          <a:solidFill>
            <a:srgbClr val="D7A23A">
              <a:alpha val="60000"/>
            </a:srgbClr>
          </a:solidFill>
          <a:ln w="12700">
            <a:solidFill>
              <a:srgbClr val="D7A23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80760" y="30906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7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Atlas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080760" y="330098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with activity only on the left (temporal) but sparse spatial activity are compute-heavy, not memory-bound.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89320" y="3849624"/>
            <a:ext cx="2651760" cy="786384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4A"/>
            </a:solidFill>
            <a:prstDash val="solid"/>
          </a:ln>
          <a:effectLst>
            <a:outerShdw blurRad="889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989320" y="3849624"/>
            <a:ext cx="2651760" cy="50292"/>
          </a:xfrm>
          <a:prstGeom prst="rect">
            <a:avLst/>
          </a:prstGeom>
          <a:solidFill>
            <a:srgbClr val="D7A23A">
              <a:alpha val="60000"/>
            </a:srgbClr>
          </a:solidFill>
          <a:ln w="12700">
            <a:solidFill>
              <a:srgbClr val="D7A23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080760" y="3941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7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080760" y="415137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ending at very different times (Uneven Work) show load imbalance — redesign the work-stealing strategy.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4663440"/>
            <a:ext cx="8503920" cy="329184"/>
          </a:xfrm>
          <a:prstGeom prst="rect">
            <a:avLst/>
          </a:prstGeom>
          <a:solidFill>
            <a:srgbClr val="162030"/>
          </a:solidFill>
          <a:ln w="12700">
            <a:solidFill>
              <a:srgbClr val="1E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57200" y="46634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7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is interactive — click any event, thread lane, or node to cross-highlight across all other views simultaneously.</a:t>
            </a:r>
            <a:endParaRPr lang="en-US" sz="1050" dirty="0"/>
          </a:p>
        </p:txBody>
      </p:sp>
      <p:pic>
        <p:nvPicPr>
          <p:cNvPr id="53" name="Picture 52" descr="A red and black logo&#10;&#10;AI-generated content may be incorrect.">
            <a:extLst>
              <a:ext uri="{FF2B5EF4-FFF2-40B4-BE49-F238E27FC236}">
                <a16:creationId xmlns:a16="http://schemas.microsoft.com/office/drawing/2014/main" id="{C52EE8D3-D1BA-2FBD-A529-0AA990297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595" y="61722"/>
            <a:ext cx="534924" cy="5349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7A23A"/>
          </a:solidFill>
          <a:ln w="12700">
            <a:solidFill>
              <a:srgbClr val="D7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3474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D7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Chrono-Matrix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Visual Analytics for Multithreaded Execution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74720" y="1938528"/>
            <a:ext cx="2194560" cy="50292"/>
          </a:xfrm>
          <a:prstGeom prst="rect">
            <a:avLst/>
          </a:prstGeom>
          <a:solidFill>
            <a:srgbClr val="D7A23A"/>
          </a:solidFill>
          <a:ln w="12700">
            <a:solidFill>
              <a:srgbClr val="D7A2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2121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project?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4140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browser dashboard for multithreaded trace visualization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08483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2121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solved?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24140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invisible thread behavior — contention, deadlocks, memory — visible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95351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2990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gathered?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2826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LD_PRELOAD hijacker intercepts pthread/IO APIs and emits a JSON trace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95351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94960" y="2990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32826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D3.js, Three.js, Vanilla JS, HTML5/CSS3, C++ with cm_annotate.h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82219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3858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techniques?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4151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Gantt, Heatmap, Chord, Force graph, Stacked bars, 3D Particle/Flow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82219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7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94960" y="3858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gained?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4151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Bottlenecks, deadlock cycles, memory hotspots, load imbalance — instantly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2F7D6D"/>
          </a:solidFill>
          <a:ln w="12700">
            <a:solidFill>
              <a:srgbClr val="2F7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84124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Chrono-Matrix  ·  Information Visualization  ·  IIT Delhi  ·  2024</a:t>
            </a:r>
            <a:endParaRPr lang="en-US" sz="1000" dirty="0"/>
          </a:p>
        </p:txBody>
      </p:sp>
      <p:pic>
        <p:nvPicPr>
          <p:cNvPr id="30" name="Picture 29" descr="A red and black logo&#10;&#10;AI-generated content may be incorrect.">
            <a:extLst>
              <a:ext uri="{FF2B5EF4-FFF2-40B4-BE49-F238E27FC236}">
                <a16:creationId xmlns:a16="http://schemas.microsoft.com/office/drawing/2014/main" id="{7B243C5D-5446-D001-0CE1-ACF8ABEFC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595" y="61722"/>
            <a:ext cx="534924" cy="5349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1567</Words>
  <Application>Microsoft Macintosh PowerPoint</Application>
  <PresentationFormat>On-screen Show (16:9)</PresentationFormat>
  <Paragraphs>213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Chrono-Matrix Presentation</dc:title>
  <dc:subject>PptxGenJS Presentation</dc:subject>
  <dc:creator>Chrono-Matrix Team</dc:creator>
  <cp:lastModifiedBy>Nitish Kumar</cp:lastModifiedBy>
  <cp:revision>3</cp:revision>
  <dcterms:created xsi:type="dcterms:W3CDTF">2026-05-08T10:43:09Z</dcterms:created>
  <dcterms:modified xsi:type="dcterms:W3CDTF">2026-05-08T11:21:27Z</dcterms:modified>
</cp:coreProperties>
</file>