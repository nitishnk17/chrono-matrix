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3780EBD-6271-4F82-9063-214F70ED10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2DFABC-6E87-4CE2-A708-24BB7120BA2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8DE657-6280-425F-B8C4-0017A3D6966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F0D402-5A0E-49D0-8725-EC74FEE5A6E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63561A-DAEF-40B6-A03B-D3093987091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7AB83D-889E-4B48-9C6F-C2C16BFAB87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06E2B4-A47D-43CD-A55D-4145ACF4953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1F0277-492B-4D6E-B425-D4F4F3CA7B9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818725-7560-492C-8E8C-2589BD0AF03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126480" y="-365760"/>
            <a:ext cx="3291120" cy="283392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74320" y="3291840"/>
            <a:ext cx="2925360" cy="2193840"/>
          </a:xfrm>
          <a:prstGeom prst="rect">
            <a:avLst/>
          </a:prstGeom>
          <a:solidFill>
            <a:srgbClr val="06d0e0">
              <a:alpha val="10000"/>
            </a:srgbClr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955280" y="2194560"/>
            <a:ext cx="1462320" cy="1828080"/>
          </a:xfrm>
          <a:prstGeom prst="rect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11480" y="960120"/>
            <a:ext cx="63360" cy="283392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94360" y="91440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349" strike="noStrike">
                <a:solidFill>
                  <a:srgbClr val="06d0e0"/>
                </a:solidFill>
                <a:effectLst/>
                <a:uFillTx/>
                <a:latin typeface="Calibri"/>
              </a:rPr>
              <a:t>VISUALIZATION PROJECT PROPOSAL 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94360" y="1170360"/>
            <a:ext cx="77716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Memory Matrix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94360" y="2395800"/>
            <a:ext cx="65829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Interactive Visual Analytics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for Threads Contention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94360" y="3319200"/>
            <a:ext cx="7772400" cy="360"/>
          </a:xfrm>
          <a:prstGeom prst="line">
            <a:avLst/>
          </a:prstGeom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94360" y="34200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Diagnosing parallel execution bottlenecks through coordinated spatial-temporal visualization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94360" y="3858840"/>
            <a:ext cx="3931200" cy="77652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594360" y="3858840"/>
            <a:ext cx="54000" cy="776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77240" y="391356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Project Team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777240" y="411480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Nitish Kumar &amp;  Dipesh Kant</a:t>
            </a:r>
            <a:br>
              <a:rPr sz="1250"/>
            </a:b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(</a:t>
            </a:r>
            <a:r>
              <a:rPr lang="en-US" sz="10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2025MCS2100)      (2025MCS2110)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3280" cy="502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411480" y="109800"/>
            <a:ext cx="45000" cy="2826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39640" y="91440"/>
            <a:ext cx="8457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What Problem Are We Solving?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0" y="502920"/>
            <a:ext cx="9144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4"/>
          <p:cNvSpPr/>
          <p:nvPr/>
        </p:nvSpPr>
        <p:spPr>
          <a:xfrm>
            <a:off x="411480" y="49057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Memory Matrix  ·  Project Proposal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8183880" y="49057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2  /  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411480" y="667440"/>
            <a:ext cx="3839760" cy="3931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411480" y="667440"/>
            <a:ext cx="63360" cy="39312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8"/>
          <p:cNvSpPr/>
          <p:nvPr/>
        </p:nvSpPr>
        <p:spPr>
          <a:xfrm>
            <a:off x="612720" y="8319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300" strike="noStrike">
                <a:solidFill>
                  <a:srgbClr val="06d0e0"/>
                </a:solidFill>
                <a:effectLst/>
                <a:uFillTx/>
                <a:latin typeface="Calibri"/>
              </a:rPr>
              <a:t>THE CHALLENGE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12720" y="1060560"/>
            <a:ext cx="356544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Parallel Software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Debugging is Blind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612360" y="2039040"/>
            <a:ext cx="347472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612720" y="2148840"/>
            <a:ext cx="351972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OS schedulers and HPC clusters generate enormous execution traces but existing tools present this data as raw chronological logs with no spatial or visual context.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612720" y="3246120"/>
            <a:ext cx="35197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Engineers spend hours correlating log entries to track down lock contention, deadlocks, and false sharing  problems that should be instantly visible with the right visualization.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4526280" y="667440"/>
            <a:ext cx="4205520" cy="1179000"/>
          </a:xfrm>
          <a:prstGeom prst="rect">
            <a:avLst/>
          </a:prstGeom>
          <a:solidFill>
            <a:srgbClr val="112244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4663440" y="740520"/>
            <a:ext cx="566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6d0e0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5330880" y="75888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Text-Heavy Logs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5330880" y="1097280"/>
            <a:ext cx="3291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Profiling tools like perf and VTune output chronological logs with no spatial context —temporal patterns remain invisible.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4526280" y="2043720"/>
            <a:ext cx="4205520" cy="1179000"/>
          </a:xfrm>
          <a:prstGeom prst="rect">
            <a:avLst/>
          </a:prstGeom>
          <a:solidFill>
            <a:srgbClr val="112244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4663440" y="2116800"/>
            <a:ext cx="566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5330880" y="213516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Hidden Bottlenecks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5330880" y="2473560"/>
            <a:ext cx="3291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Thread lock contention, false sharing, and deadlocks are buried across thousands of log entries with no visual signal.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1"/>
          <p:cNvSpPr/>
          <p:nvPr/>
        </p:nvSpPr>
        <p:spPr>
          <a:xfrm>
            <a:off x="4526280" y="3420000"/>
            <a:ext cx="4205520" cy="1179000"/>
          </a:xfrm>
          <a:prstGeom prst="rect">
            <a:avLst/>
          </a:prstGeom>
          <a:solidFill>
            <a:srgbClr val="112244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4663440" y="3493080"/>
            <a:ext cx="566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5330880" y="351144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Costly Diagnostics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5330880" y="3849480"/>
            <a:ext cx="3291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Without spatial-temporal mapping, identifying a deadlock or cache thrash requires hours of tedious manual log correlation.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3280" cy="502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411480" y="109800"/>
            <a:ext cx="45000" cy="2826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39640" y="91440"/>
            <a:ext cx="8457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Data Source</a:t>
            </a:r>
            <a:r>
              <a:rPr lang="en-US" sz="15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  &amp; Methodology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0" y="502920"/>
            <a:ext cx="9144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 4"/>
          <p:cNvSpPr/>
          <p:nvPr/>
        </p:nvSpPr>
        <p:spPr>
          <a:xfrm>
            <a:off x="411480" y="49057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Memory Matrix  ·  Project Proposal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8183880" y="49057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3  /  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411480" y="667440"/>
            <a:ext cx="2651040" cy="376668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411480" y="667440"/>
            <a:ext cx="2651040" cy="6336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8"/>
          <p:cNvSpPr/>
          <p:nvPr/>
        </p:nvSpPr>
        <p:spPr>
          <a:xfrm>
            <a:off x="576000" y="804600"/>
            <a:ext cx="712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06d0e0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576000" y="1426320"/>
            <a:ext cx="2376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06d0e0"/>
                </a:solidFill>
                <a:effectLst/>
                <a:uFillTx/>
                <a:latin typeface="Calibri"/>
              </a:rPr>
              <a:t>DATA GENERATION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576000" y="1654920"/>
            <a:ext cx="239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Self-Generated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Execution Traces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576000" y="2404800"/>
            <a:ext cx="2322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576000" y="2578680"/>
            <a:ext cx="72360" cy="7236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749880" y="2532960"/>
            <a:ext cx="2175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Multi-threaded C++/Python programs intentionally designed with classical synchronization bugs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576000" y="3465720"/>
            <a:ext cx="72360" cy="7236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749880" y="3420000"/>
            <a:ext cx="2175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Each scenario isolates a specific class of concurrency problem for clean, reproducible trace output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3246120" y="667440"/>
            <a:ext cx="2651040" cy="376668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Shape 17"/>
          <p:cNvSpPr/>
          <p:nvPr/>
        </p:nvSpPr>
        <p:spPr>
          <a:xfrm>
            <a:off x="3246120" y="667440"/>
            <a:ext cx="265104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3410640" y="804600"/>
            <a:ext cx="712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3410640" y="1426320"/>
            <a:ext cx="2376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7c3aed"/>
                </a:solidFill>
                <a:effectLst/>
                <a:uFillTx/>
                <a:latin typeface="Calibri"/>
              </a:rPr>
              <a:t>DATA STRUCTURE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3410640" y="1654920"/>
            <a:ext cx="239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JSON Trace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File Format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1"/>
          <p:cNvSpPr/>
          <p:nvPr/>
        </p:nvSpPr>
        <p:spPr>
          <a:xfrm>
            <a:off x="3410640" y="2404800"/>
            <a:ext cx="2322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Shape 22"/>
          <p:cNvSpPr/>
          <p:nvPr/>
        </p:nvSpPr>
        <p:spPr>
          <a:xfrm>
            <a:off x="3410640" y="2578680"/>
            <a:ext cx="72360" cy="72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3584520" y="2532960"/>
            <a:ext cx="2175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Fields: Timestamp , Thread-id, event,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Resource, Scenario,  Memory Address, duration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4"/>
          <p:cNvSpPr/>
          <p:nvPr/>
        </p:nvSpPr>
        <p:spPr>
          <a:xfrm>
            <a:off x="3410640" y="3465720"/>
            <a:ext cx="72360" cy="72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25"/>
          <p:cNvSpPr/>
          <p:nvPr/>
        </p:nvSpPr>
        <p:spPr>
          <a:xfrm>
            <a:off x="3584520" y="3420000"/>
            <a:ext cx="2175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Memory_Address or Mutex_ID captured per event — enabling full spatial mapping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6"/>
          <p:cNvSpPr/>
          <p:nvPr/>
        </p:nvSpPr>
        <p:spPr>
          <a:xfrm>
            <a:off x="6035400" y="667440"/>
            <a:ext cx="2651040" cy="376668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Shape 27"/>
          <p:cNvSpPr/>
          <p:nvPr/>
        </p:nvSpPr>
        <p:spPr>
          <a:xfrm>
            <a:off x="6080760" y="667440"/>
            <a:ext cx="2651040" cy="6336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28"/>
          <p:cNvSpPr/>
          <p:nvPr/>
        </p:nvSpPr>
        <p:spPr>
          <a:xfrm>
            <a:off x="6245280" y="804600"/>
            <a:ext cx="712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0d48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9"/>
          <p:cNvSpPr/>
          <p:nvPr/>
        </p:nvSpPr>
        <p:spPr>
          <a:xfrm>
            <a:off x="6245280" y="1426320"/>
            <a:ext cx="2376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10d48a"/>
                </a:solidFill>
                <a:effectLst/>
                <a:uFillTx/>
                <a:latin typeface="Calibri"/>
              </a:rPr>
              <a:t>TEST SCENARIOS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0"/>
          <p:cNvSpPr/>
          <p:nvPr/>
        </p:nvSpPr>
        <p:spPr>
          <a:xfrm>
            <a:off x="6245280" y="1654920"/>
            <a:ext cx="239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Controlled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Bug Patterns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1"/>
          <p:cNvSpPr/>
          <p:nvPr/>
        </p:nvSpPr>
        <p:spPr>
          <a:xfrm>
            <a:off x="6245280" y="2404800"/>
            <a:ext cx="2322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Shape 32"/>
          <p:cNvSpPr/>
          <p:nvPr/>
        </p:nvSpPr>
        <p:spPr>
          <a:xfrm>
            <a:off x="6245280" y="2578680"/>
            <a:ext cx="72360" cy="7236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 33"/>
          <p:cNvSpPr/>
          <p:nvPr/>
        </p:nvSpPr>
        <p:spPr>
          <a:xfrm>
            <a:off x="6419160" y="2532960"/>
            <a:ext cx="2175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Producer-Consumer bottlenecks and thread starvation conditions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4"/>
          <p:cNvSpPr/>
          <p:nvPr/>
        </p:nvSpPr>
        <p:spPr>
          <a:xfrm>
            <a:off x="6245280" y="3465720"/>
            <a:ext cx="72360" cy="7236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35"/>
          <p:cNvSpPr/>
          <p:nvPr/>
        </p:nvSpPr>
        <p:spPr>
          <a:xfrm>
            <a:off x="6419160" y="3420000"/>
            <a:ext cx="2175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Matrix multiplication with false sharing  +  classic mutual deadlock patterns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280" cy="502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411480" y="109800"/>
            <a:ext cx="45000" cy="2826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2"/>
          <p:cNvSpPr/>
          <p:nvPr/>
        </p:nvSpPr>
        <p:spPr>
          <a:xfrm>
            <a:off x="539640" y="91440"/>
            <a:ext cx="8457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Project Work Plan</a:t>
            </a:r>
            <a:r>
              <a:rPr lang="en-US" sz="15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  — 5 Core Tasks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0" y="502920"/>
            <a:ext cx="9144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4"/>
          <p:cNvSpPr/>
          <p:nvPr/>
        </p:nvSpPr>
        <p:spPr>
          <a:xfrm>
            <a:off x="411480" y="49057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Memory Matrix  ·  Project Proposal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8183880" y="49057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4  /  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411480" y="667440"/>
            <a:ext cx="2651040" cy="1618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411480" y="667440"/>
            <a:ext cx="63360" cy="157212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8"/>
          <p:cNvSpPr/>
          <p:nvPr/>
        </p:nvSpPr>
        <p:spPr>
          <a:xfrm>
            <a:off x="567000" y="740520"/>
            <a:ext cx="474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6d0e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567000" y="1261800"/>
            <a:ext cx="2395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Trace Generator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567000" y="1600200"/>
            <a:ext cx="2395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Write multi-threaded C++/Python programs with intentional synchronization bugs. A profiler/tracer outputs a raw JSON dataset for each scenario type.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3246120" y="667440"/>
            <a:ext cx="2651040" cy="1618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3246120" y="667440"/>
            <a:ext cx="63360" cy="1572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3401640" y="740520"/>
            <a:ext cx="474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3401640" y="1261800"/>
            <a:ext cx="2395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Web Visualization Core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3401640" y="1600200"/>
            <a:ext cx="2395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Build the core interactive web application using WebGL, a spatial canvas mapping memory addresses against executing threads across a continuous time axis.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6080760" y="667440"/>
            <a:ext cx="2651040" cy="1618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6080760" y="667440"/>
            <a:ext cx="63360" cy="157212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6236280" y="740520"/>
            <a:ext cx="474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10d48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6236280" y="1261800"/>
            <a:ext cx="2395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Visual Encoding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6236280" y="1600200"/>
            <a:ext cx="2395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Map JSON trace data to visual elements: thread streams color-coded by state, memory blocks highlighted by access status (clean access vs. lock contention).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1828800" y="2441520"/>
            <a:ext cx="2651040" cy="167292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1828800" y="2441520"/>
            <a:ext cx="63360" cy="15721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1984320" y="2514600"/>
            <a:ext cx="474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b923c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1984320" y="3035880"/>
            <a:ext cx="2395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Interactive Scrubber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1984320" y="3374280"/>
            <a:ext cx="2395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 linked timeline slider UI that scrubs through execution time and dynamically updates the spatial visualization — enabling frame-by-frame event inspection.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4663440" y="2441520"/>
            <a:ext cx="2651040" cy="167292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4663440" y="2441520"/>
            <a:ext cx="63360" cy="1572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4818960" y="2514600"/>
            <a:ext cx="474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4818960" y="3035880"/>
            <a:ext cx="2395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</a:rPr>
              <a:t>Visual Polish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4818960" y="3374280"/>
            <a:ext cx="2395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Apply post-processing effects to critical visual elements — producing a high-fidelity, readable, and visually differentiated web interface.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3280" cy="502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411480" y="109800"/>
            <a:ext cx="45000" cy="2826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39640" y="91440"/>
            <a:ext cx="8457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Algorithms, Techniques</a:t>
            </a:r>
            <a:r>
              <a:rPr lang="en-US" sz="15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  &amp; Technologies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0" y="502920"/>
            <a:ext cx="9144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411480" y="49057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Memory Matrix  ·  Project Proposal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8183880" y="49057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5  /  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411480" y="667440"/>
            <a:ext cx="2663280" cy="177336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411480" y="667440"/>
            <a:ext cx="2663280" cy="540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548640" y="850320"/>
            <a:ext cx="1508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06d0e0"/>
                </a:solidFill>
                <a:effectLst/>
                <a:uFillTx/>
                <a:latin typeface="Calibri"/>
              </a:rPr>
              <a:t>CORE TECHNIQUE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1188720" y="877680"/>
            <a:ext cx="1748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548640" y="1252800"/>
            <a:ext cx="2407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Coordinated Multiple Views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548640" y="1783080"/>
            <a:ext cx="2407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will link all charts together. Interacting with the timeline will instantly update the memory and dependency charts in real-time.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3240000" y="667440"/>
            <a:ext cx="2663280" cy="177336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3240000" y="667440"/>
            <a:ext cx="2663280" cy="54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3377160" y="850320"/>
            <a:ext cx="1423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7c3aed"/>
                </a:solidFill>
                <a:effectLst/>
                <a:uFillTx/>
                <a:latin typeface="Calibri"/>
              </a:rPr>
              <a:t>FRONTEND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4017240" y="877680"/>
            <a:ext cx="1748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3377160" y="1252800"/>
            <a:ext cx="2407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React.js &amp; TailwindCSS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3377160" y="1783080"/>
            <a:ext cx="2407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will build a responsive, component-based web dashboard using React.js for UI management, styled with Tailwind CSS for a modern, clean design.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6068520" y="667440"/>
            <a:ext cx="2663280" cy="177336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6068520" y="667440"/>
            <a:ext cx="2663280" cy="5400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6845760" y="877680"/>
            <a:ext cx="1748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6205680" y="1252800"/>
            <a:ext cx="2407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HTML5 Canvas + D3.js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6"/>
          <p:cNvSpPr/>
          <p:nvPr/>
        </p:nvSpPr>
        <p:spPr>
          <a:xfrm>
            <a:off x="6205680" y="1783080"/>
            <a:ext cx="2407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will use Canvas/WebGL to smoothly draw thousands of data points without crashing the browser, and D3.js to handle interactive axes and graphs.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7"/>
          <p:cNvSpPr/>
          <p:nvPr/>
        </p:nvSpPr>
        <p:spPr>
          <a:xfrm>
            <a:off x="411480" y="2743200"/>
            <a:ext cx="2663280" cy="18288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Shape 28"/>
          <p:cNvSpPr/>
          <p:nvPr/>
        </p:nvSpPr>
        <p:spPr>
          <a:xfrm>
            <a:off x="411480" y="2660040"/>
            <a:ext cx="2663280" cy="540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296640" y="2788920"/>
            <a:ext cx="1280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b923c"/>
                </a:solidFill>
                <a:effectLst/>
                <a:uFillTx/>
                <a:latin typeface="Calibri"/>
              </a:rPr>
              <a:t>DATA PIPELINE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548640" y="3191400"/>
            <a:ext cx="2407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Custom OS-Level Profiling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3"/>
          <p:cNvSpPr/>
          <p:nvPr/>
        </p:nvSpPr>
        <p:spPr>
          <a:xfrm>
            <a:off x="548640" y="3721680"/>
            <a:ext cx="2407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will  provide a custom tracing tool that silently monitors running programs and records thread activity into structured JSON files.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4"/>
          <p:cNvSpPr/>
          <p:nvPr/>
        </p:nvSpPr>
        <p:spPr>
          <a:xfrm>
            <a:off x="3280320" y="2679120"/>
            <a:ext cx="2663280" cy="189288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Shape 35"/>
          <p:cNvSpPr/>
          <p:nvPr/>
        </p:nvSpPr>
        <p:spPr>
          <a:xfrm>
            <a:off x="3240000" y="2606040"/>
            <a:ext cx="2663280" cy="54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37"/>
          <p:cNvSpPr/>
          <p:nvPr/>
        </p:nvSpPr>
        <p:spPr>
          <a:xfrm>
            <a:off x="3377160" y="2788920"/>
            <a:ext cx="737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22d3ee"/>
                </a:solidFill>
                <a:effectLst/>
                <a:uFillTx/>
                <a:latin typeface="Calibri"/>
              </a:rPr>
              <a:t>ANALYTICS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8"/>
          <p:cNvSpPr/>
          <p:nvPr/>
        </p:nvSpPr>
        <p:spPr>
          <a:xfrm>
            <a:off x="4017240" y="2816280"/>
            <a:ext cx="1748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9"/>
          <p:cNvSpPr/>
          <p:nvPr/>
        </p:nvSpPr>
        <p:spPr>
          <a:xfrm>
            <a:off x="3377160" y="3171600"/>
            <a:ext cx="2407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Multi-Perspective Diagnostics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0"/>
          <p:cNvSpPr/>
          <p:nvPr/>
        </p:nvSpPr>
        <p:spPr>
          <a:xfrm>
            <a:off x="3377160" y="3657600"/>
            <a:ext cx="24073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will diagnose root causes by mapping thread data across time (stalls), memory space (hotspots), and relationships (who-blocks-whom).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1"/>
          <p:cNvSpPr/>
          <p:nvPr/>
        </p:nvSpPr>
        <p:spPr>
          <a:xfrm>
            <a:off x="6068520" y="2660040"/>
            <a:ext cx="2663280" cy="191196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Shape 42"/>
          <p:cNvSpPr/>
          <p:nvPr/>
        </p:nvSpPr>
        <p:spPr>
          <a:xfrm>
            <a:off x="6068520" y="2606040"/>
            <a:ext cx="2663280" cy="54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45"/>
          <p:cNvSpPr/>
          <p:nvPr/>
        </p:nvSpPr>
        <p:spPr>
          <a:xfrm>
            <a:off x="6197760" y="2861640"/>
            <a:ext cx="1748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a78bfa"/>
                </a:solidFill>
                <a:effectLst/>
                <a:uFillTx/>
                <a:latin typeface="Calibri"/>
              </a:rPr>
              <a:t>PERFORMANCE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6"/>
          <p:cNvSpPr/>
          <p:nvPr/>
        </p:nvSpPr>
        <p:spPr>
          <a:xfrm>
            <a:off x="6205680" y="3191400"/>
            <a:ext cx="2407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Interactive Scalability</a:t>
            </a:r>
            <a:endParaRPr lang="en-US" sz="1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7"/>
          <p:cNvSpPr/>
          <p:nvPr/>
        </p:nvSpPr>
        <p:spPr>
          <a:xfrm>
            <a:off x="6205680" y="3721680"/>
            <a:ext cx="2407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will group visual updates together to ensure the dashboard runs smooth , even when users are exploring massive datasets.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184800" y="914400"/>
            <a:ext cx="901800" cy="22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750" b="1" u="none" spc="150" strike="noStrike">
                <a:solidFill>
                  <a:srgbClr val="10d48a"/>
                </a:solidFill>
                <a:effectLst/>
                <a:uFillTx/>
                <a:latin typeface="Calibri"/>
              </a:rPr>
              <a:t>RENDERING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360" y="0"/>
            <a:ext cx="9143280" cy="502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411480" y="109800"/>
            <a:ext cx="45000" cy="2826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39640" y="91440"/>
            <a:ext cx="8457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Expected Deliverables</a:t>
            </a:r>
            <a:r>
              <a:rPr lang="en-US" sz="15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  &amp; Outcomes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0" y="502920"/>
            <a:ext cx="9144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411480" y="49057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Memory Matrix  ·  Project Proposal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8183880" y="49057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6  /  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411480" y="685800"/>
            <a:ext cx="4045680" cy="18738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411480" y="667440"/>
            <a:ext cx="63360" cy="18738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594360" y="758880"/>
            <a:ext cx="6760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594360" y="758880"/>
            <a:ext cx="37256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Trace Generator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Script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594360" y="1307520"/>
            <a:ext cx="3725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06d0e0"/>
                </a:solidFill>
                <a:effectLst/>
                <a:uFillTx/>
                <a:latin typeface="Calibri"/>
              </a:rPr>
              <a:t>DELIVERABLE  ONE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594360" y="1536120"/>
            <a:ext cx="3726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594360" y="1627560"/>
            <a:ext cx="37256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 custom C++ tracer that outputs rich JSON execution logs containing thread, memory, and CPU core data for controlled synchronization scenarios.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3"/>
          <p:cNvSpPr/>
          <p:nvPr/>
        </p:nvSpPr>
        <p:spPr>
          <a:xfrm>
            <a:off x="4686480" y="667440"/>
            <a:ext cx="4045680" cy="18738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Shape 14"/>
          <p:cNvSpPr/>
          <p:nvPr/>
        </p:nvSpPr>
        <p:spPr>
          <a:xfrm>
            <a:off x="4686480" y="667440"/>
            <a:ext cx="63360" cy="1873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4836600" y="758880"/>
            <a:ext cx="37940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Interactive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Visualization App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4869360" y="1307520"/>
            <a:ext cx="3725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7c3aed"/>
                </a:solidFill>
                <a:effectLst/>
                <a:uFillTx/>
                <a:latin typeface="Calibri"/>
              </a:rPr>
              <a:t>DELIVERABLE  TWO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8"/>
          <p:cNvSpPr/>
          <p:nvPr/>
        </p:nvSpPr>
        <p:spPr>
          <a:xfrm>
            <a:off x="4869000" y="1536120"/>
            <a:ext cx="3726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4869360" y="1627560"/>
            <a:ext cx="37256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0"/>
          <p:cNvSpPr/>
          <p:nvPr/>
        </p:nvSpPr>
        <p:spPr>
          <a:xfrm>
            <a:off x="411480" y="2770560"/>
            <a:ext cx="4045680" cy="18738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Shape 21"/>
          <p:cNvSpPr/>
          <p:nvPr/>
        </p:nvSpPr>
        <p:spPr>
          <a:xfrm>
            <a:off x="411480" y="2770560"/>
            <a:ext cx="63360" cy="187380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594360" y="2862000"/>
            <a:ext cx="29300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Visual Pattern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Dictionary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594360" y="3410640"/>
            <a:ext cx="3725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10d48a"/>
                </a:solidFill>
                <a:effectLst/>
                <a:uFillTx/>
                <a:latin typeface="Calibri"/>
              </a:rPr>
              <a:t>DELIVERABLE  THREE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>
            <a:off x="594360" y="3639240"/>
            <a:ext cx="3726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26"/>
          <p:cNvSpPr/>
          <p:nvPr/>
        </p:nvSpPr>
        <p:spPr>
          <a:xfrm>
            <a:off x="594360" y="3730680"/>
            <a:ext cx="37256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 reference document that translates specific visual shapes into actual OS phenomena, helping users instantly recognize the visual signatures of bugs.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7"/>
          <p:cNvSpPr/>
          <p:nvPr/>
        </p:nvSpPr>
        <p:spPr>
          <a:xfrm>
            <a:off x="4640760" y="2743200"/>
            <a:ext cx="4045680" cy="18738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4686480" y="2770560"/>
            <a:ext cx="63360" cy="1873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 30"/>
          <p:cNvSpPr/>
          <p:nvPr/>
        </p:nvSpPr>
        <p:spPr>
          <a:xfrm>
            <a:off x="4872600" y="2862000"/>
            <a:ext cx="29300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Visual Demonstration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1"/>
          <p:cNvSpPr/>
          <p:nvPr/>
        </p:nvSpPr>
        <p:spPr>
          <a:xfrm>
            <a:off x="4869360" y="3410640"/>
            <a:ext cx="3725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201" strike="noStrike">
                <a:solidFill>
                  <a:srgbClr val="fb923c"/>
                </a:solidFill>
                <a:effectLst/>
                <a:uFillTx/>
                <a:latin typeface="Calibri"/>
              </a:rPr>
              <a:t>Outcomes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2"/>
          <p:cNvSpPr/>
          <p:nvPr/>
        </p:nvSpPr>
        <p:spPr>
          <a:xfrm>
            <a:off x="4869000" y="3639240"/>
            <a:ext cx="3726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 33"/>
          <p:cNvSpPr/>
          <p:nvPr/>
        </p:nvSpPr>
        <p:spPr>
          <a:xfrm>
            <a:off x="4869360" y="3730680"/>
            <a:ext cx="37256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will showcase the tool's capabilities by walking through generated execution traces. The dashboard will visually highlight a hot memory area, instantly identify a deadlock, and map out specific thread dependencies at a particular timestamp.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869360" y="1627560"/>
            <a:ext cx="3817440" cy="607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 Coordinated Multiple Views (CMV) dashboard integrating a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temporal thread timeline, a spatial memory-density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heatmap, and a relational node-link diagram.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43280" cy="502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411480" y="109800"/>
            <a:ext cx="45000" cy="28260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39640" y="91440"/>
            <a:ext cx="8457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Literature Survey</a:t>
            </a:r>
            <a:r>
              <a:rPr lang="en-US" sz="1500" b="0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  — Prior Work &amp; Our Novelty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0" y="502920"/>
            <a:ext cx="9144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11480" y="49057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Memory Matrix  ·  Project Proposal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8183880" y="49057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7  /  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411480" y="667440"/>
            <a:ext cx="2651040" cy="379404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411480" y="667440"/>
            <a:ext cx="2651040" cy="6336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576000" y="804600"/>
            <a:ext cx="2376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150" strike="noStrike">
                <a:solidFill>
                  <a:srgbClr val="06d0e0"/>
                </a:solidFill>
                <a:effectLst/>
                <a:uFillTx/>
                <a:latin typeface="Calibri"/>
              </a:rPr>
              <a:t>PRIOR WORK  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576000" y="1033200"/>
            <a:ext cx="23767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Gantt-Based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Thread Profilers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76000" y="1783080"/>
            <a:ext cx="23767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06d0e0"/>
                </a:solidFill>
                <a:effectLst/>
                <a:uFillTx/>
                <a:latin typeface="Calibri"/>
              </a:rPr>
              <a:t>Intel VTune  ·  Chrome Tracing  ·  perf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76000" y="2075400"/>
            <a:ext cx="2322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576000" y="2231280"/>
            <a:ext cx="63360" cy="6336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722520" y="21855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Represent thread execution as horizontal time bars across CPU cores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576000" y="2633400"/>
            <a:ext cx="63360" cy="6336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722520" y="258768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Excellent temporal resolution for CPU utilization metrics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576000" y="3035880"/>
            <a:ext cx="63360" cy="63360"/>
          </a:xfrm>
          <a:prstGeom prst="rect">
            <a:avLst/>
          </a:prstGeom>
          <a:solidFill>
            <a:srgbClr val="06d0e0"/>
          </a:solidFill>
          <a:ln w="12700">
            <a:solidFill>
              <a:srgbClr val="06d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722520" y="29901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Industry standard for performance profiling workflows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576000" y="3502080"/>
            <a:ext cx="2322000" cy="803880"/>
          </a:xfrm>
          <a:prstGeom prst="rect">
            <a:avLst/>
          </a:prstGeom>
          <a:solidFill>
            <a:srgbClr val="f05c6a">
              <a:alpha val="12000"/>
            </a:srgbClr>
          </a:solidFill>
          <a:ln w="12700">
            <a:solidFill>
              <a:srgbClr val="f05c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667440" y="3575160"/>
            <a:ext cx="2157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f05c6a"/>
                </a:solidFill>
                <a:effectLst/>
                <a:uFillTx/>
                <a:latin typeface="Calibri"/>
              </a:rPr>
              <a:t>Limitation: No spatial memory mapping — cannot show WHERE in memory contention occurs, only WHEN.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3246120" y="667440"/>
            <a:ext cx="2651040" cy="379404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3246120" y="667440"/>
            <a:ext cx="265104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3410640" y="804600"/>
            <a:ext cx="2376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150" strike="noStrike">
                <a:solidFill>
                  <a:srgbClr val="7c3aed"/>
                </a:solidFill>
                <a:effectLst/>
                <a:uFillTx/>
                <a:latin typeface="Calibri"/>
              </a:rPr>
              <a:t>PRIOR WORK  02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3"/>
          <p:cNvSpPr/>
          <p:nvPr/>
        </p:nvSpPr>
        <p:spPr>
          <a:xfrm>
            <a:off x="3410640" y="1033200"/>
            <a:ext cx="23767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Static Heatmaps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&amp; Nodal Graphs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3410640" y="1783080"/>
            <a:ext cx="23767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Academic visualization research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5"/>
          <p:cNvSpPr/>
          <p:nvPr/>
        </p:nvSpPr>
        <p:spPr>
          <a:xfrm>
            <a:off x="3410640" y="2075400"/>
            <a:ext cx="2322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Shape 26"/>
          <p:cNvSpPr/>
          <p:nvPr/>
        </p:nvSpPr>
        <p:spPr>
          <a:xfrm>
            <a:off x="3410640" y="2231280"/>
            <a:ext cx="6336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 27"/>
          <p:cNvSpPr/>
          <p:nvPr/>
        </p:nvSpPr>
        <p:spPr>
          <a:xfrm>
            <a:off x="3557160" y="21855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Show memory access density patterns across the address space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8"/>
          <p:cNvSpPr/>
          <p:nvPr/>
        </p:nvSpPr>
        <p:spPr>
          <a:xfrm>
            <a:off x="3410640" y="2633400"/>
            <a:ext cx="6336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 29"/>
          <p:cNvSpPr/>
          <p:nvPr/>
        </p:nvSpPr>
        <p:spPr>
          <a:xfrm>
            <a:off x="3557160" y="258768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Nodal graphs map thread dependencies and lock-chain sequences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0"/>
          <p:cNvSpPr/>
          <p:nvPr/>
        </p:nvSpPr>
        <p:spPr>
          <a:xfrm>
            <a:off x="3410640" y="3035880"/>
            <a:ext cx="6336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 31"/>
          <p:cNvSpPr/>
          <p:nvPr/>
        </p:nvSpPr>
        <p:spPr>
          <a:xfrm>
            <a:off x="3557160" y="29901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Richer spatial information than Gantt-only approaches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2"/>
          <p:cNvSpPr/>
          <p:nvPr/>
        </p:nvSpPr>
        <p:spPr>
          <a:xfrm>
            <a:off x="3410640" y="3502080"/>
            <a:ext cx="2322000" cy="803880"/>
          </a:xfrm>
          <a:prstGeom prst="rect">
            <a:avLst/>
          </a:prstGeom>
          <a:solidFill>
            <a:srgbClr val="f05c6a">
              <a:alpha val="12000"/>
            </a:srgbClr>
          </a:solidFill>
          <a:ln w="12700">
            <a:solidFill>
              <a:srgbClr val="f05c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 33"/>
          <p:cNvSpPr/>
          <p:nvPr/>
        </p:nvSpPr>
        <p:spPr>
          <a:xfrm>
            <a:off x="3502080" y="3575160"/>
            <a:ext cx="2157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f05c6a"/>
                </a:solidFill>
                <a:effectLst/>
                <a:uFillTx/>
                <a:latin typeface="Calibri"/>
              </a:rPr>
              <a:t>Limitation: Static snapshots lose temporal dynamics — cannot trace HOW contention evolved over execution time.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4"/>
          <p:cNvSpPr/>
          <p:nvPr/>
        </p:nvSpPr>
        <p:spPr>
          <a:xfrm>
            <a:off x="6080760" y="667440"/>
            <a:ext cx="2651040" cy="379404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Shape 35"/>
          <p:cNvSpPr/>
          <p:nvPr/>
        </p:nvSpPr>
        <p:spPr>
          <a:xfrm>
            <a:off x="6080760" y="667440"/>
            <a:ext cx="2651040" cy="6336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36"/>
          <p:cNvSpPr/>
          <p:nvPr/>
        </p:nvSpPr>
        <p:spPr>
          <a:xfrm>
            <a:off x="6245280" y="804600"/>
            <a:ext cx="2376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150" strike="noStrike">
                <a:solidFill>
                  <a:srgbClr val="10d48a"/>
                </a:solidFill>
                <a:effectLst/>
                <a:uFillTx/>
                <a:latin typeface="Calibri"/>
              </a:rPr>
              <a:t>OUR NOVELTY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7"/>
          <p:cNvSpPr/>
          <p:nvPr/>
        </p:nvSpPr>
        <p:spPr>
          <a:xfrm>
            <a:off x="6245280" y="1033200"/>
            <a:ext cx="23767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Coordinated Spatial-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Temporal Analytics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8"/>
          <p:cNvSpPr/>
          <p:nvPr/>
        </p:nvSpPr>
        <p:spPr>
          <a:xfrm>
            <a:off x="6245280" y="1783080"/>
            <a:ext cx="23767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10d48a"/>
                </a:solidFill>
                <a:effectLst/>
                <a:uFillTx/>
                <a:latin typeface="Calibri"/>
              </a:rPr>
              <a:t>Memory Matrix  —  This Project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9"/>
          <p:cNvSpPr/>
          <p:nvPr/>
        </p:nvSpPr>
        <p:spPr>
          <a:xfrm>
            <a:off x="6245280" y="2075400"/>
            <a:ext cx="232236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Shape 40"/>
          <p:cNvSpPr/>
          <p:nvPr/>
        </p:nvSpPr>
        <p:spPr>
          <a:xfrm>
            <a:off x="6245280" y="2231280"/>
            <a:ext cx="63360" cy="6336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 41"/>
          <p:cNvSpPr/>
          <p:nvPr/>
        </p:nvSpPr>
        <p:spPr>
          <a:xfrm>
            <a:off x="6391800" y="21855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Combines temporal Gantt concepts with spatial memory-address mapping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2"/>
          <p:cNvSpPr/>
          <p:nvPr/>
        </p:nvSpPr>
        <p:spPr>
          <a:xfrm>
            <a:off x="6245280" y="2633400"/>
            <a:ext cx="63360" cy="6336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43"/>
          <p:cNvSpPr/>
          <p:nvPr/>
        </p:nvSpPr>
        <p:spPr>
          <a:xfrm>
            <a:off x="6391800" y="258768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Linked scrubber: time axis controls spatial canvas state in real time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4"/>
          <p:cNvSpPr/>
          <p:nvPr/>
        </p:nvSpPr>
        <p:spPr>
          <a:xfrm>
            <a:off x="6245280" y="3035880"/>
            <a:ext cx="63360" cy="63360"/>
          </a:xfrm>
          <a:prstGeom prst="rect">
            <a:avLst/>
          </a:prstGeom>
          <a:solidFill>
            <a:srgbClr val="10d48a"/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45"/>
          <p:cNvSpPr/>
          <p:nvPr/>
        </p:nvSpPr>
        <p:spPr>
          <a:xfrm>
            <a:off x="6391800" y="29901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High-fidelity visual encoding significantly lowers cognitive load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46"/>
          <p:cNvSpPr/>
          <p:nvPr/>
        </p:nvSpPr>
        <p:spPr>
          <a:xfrm>
            <a:off x="6245280" y="3502080"/>
            <a:ext cx="2322000" cy="803880"/>
          </a:xfrm>
          <a:prstGeom prst="rect">
            <a:avLst/>
          </a:prstGeom>
          <a:solidFill>
            <a:srgbClr val="10d48a">
              <a:alpha val="12000"/>
            </a:srgbClr>
          </a:solidFill>
          <a:ln w="12700">
            <a:solidFill>
              <a:srgbClr val="10d4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47"/>
          <p:cNvSpPr/>
          <p:nvPr/>
        </p:nvSpPr>
        <p:spPr>
          <a:xfrm>
            <a:off x="6336720" y="3575160"/>
            <a:ext cx="2157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10d48a"/>
                </a:solidFill>
                <a:effectLst/>
                <a:uFillTx/>
                <a:latin typeface="Calibri"/>
              </a:rPr>
              <a:t>Contribution: A coordinated visual environment that directly links a temporal timeline scrubber to spatial memory and relational dependency canvases for rapid diagnostics.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9143280" cy="502200"/>
          </a:xfrm>
          <a:prstGeom prst="rect">
            <a:avLst/>
          </a:prstGeom>
          <a:solidFill>
            <a:srgbClr val="0d1b35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0" y="502920"/>
            <a:ext cx="9144000" cy="360"/>
          </a:xfrm>
          <a:prstGeom prst="line">
            <a:avLst/>
          </a:prstGeom>
          <a:ln w="9525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411480" y="49057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Memory Matrix  ·  Project Proposal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8183880" y="49057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3b5070"/>
                </a:solidFill>
                <a:effectLst/>
                <a:uFillTx/>
                <a:latin typeface="Calibri"/>
              </a:rPr>
              <a:t>7  /  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50"/>
          <p:cNvSpPr/>
          <p:nvPr/>
        </p:nvSpPr>
        <p:spPr>
          <a:xfrm>
            <a:off x="2803680" y="2109960"/>
            <a:ext cx="353592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GB" sz="5400" b="0" u="none" strike="noStrike">
                <a:solidFill>
                  <a:srgbClr val="53575c"/>
                </a:solidFill>
                <a:effectLst/>
                <a:uFillTx/>
                <a:latin typeface="Calibri"/>
              </a:rPr>
              <a:t>THANK YOU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LibreOffice/25.8.5.2$Linux_X86_64 LibreOffice_project/252c20f6956e3db0b52e6e2f9dda67263513c8fc</Application>
  <AppVersion>15.0000</AppVersion>
  <Words>937</Words>
  <Paragraphs>157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2026-03-10T15:44:31Z</dcterms:created>
  <dc:creator>PptxGenJS</dc:creator>
  <dc:description/>
  <dc:language>en-US</dc:language>
  <cp:lastModifiedBy/>
  <dcterms:modified xsi:type="dcterms:W3CDTF">2026-03-12T01:17:58Z</dcterms:modified>
  <cp:revision>7</cp:revision>
  <dc:subject>PptxGenJS Presentation</dc:subject>
  <dc:title>Memory Matrix — Project Proposal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